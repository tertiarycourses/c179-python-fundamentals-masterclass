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9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18" Type="http://schemas.openxmlformats.org/officeDocument/2006/relationships/slide" Target="slides/slide104.xml"/><Relationship Id="rId119" Type="http://schemas.openxmlformats.org/officeDocument/2006/relationships/slide" Target="slides/slide105.xml"/><Relationship Id="rId120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Relationship Id="rId123" Type="http://schemas.openxmlformats.org/officeDocument/2006/relationships/slide" Target="slides/slide109.xml"/><Relationship Id="rId124" Type="http://schemas.openxmlformats.org/officeDocument/2006/relationships/slide" Target="slides/slide110.xml"/><Relationship Id="rId125" Type="http://schemas.openxmlformats.org/officeDocument/2006/relationships/slide" Target="slides/slide111.xml"/><Relationship Id="rId126" Type="http://schemas.openxmlformats.org/officeDocument/2006/relationships/slide" Target="slides/slide112.xml"/><Relationship Id="rId127" Type="http://schemas.openxmlformats.org/officeDocument/2006/relationships/slide" Target="slides/slide113.xml"/><Relationship Id="rId128" Type="http://schemas.openxmlformats.org/officeDocument/2006/relationships/slide" Target="slides/slide114.xml"/><Relationship Id="rId129" Type="http://schemas.openxmlformats.org/officeDocument/2006/relationships/slide" Target="slides/slide115.xml"/><Relationship Id="rId130" Type="http://schemas.openxmlformats.org/officeDocument/2006/relationships/slide" Target="slides/slide116.xml"/><Relationship Id="rId131" Type="http://schemas.openxmlformats.org/officeDocument/2006/relationships/slide" Target="slides/slide117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5" Type="http://schemas.openxmlformats.org/officeDocument/2006/relationships/slide" Target="slides/slide121.xml"/><Relationship Id="rId136" Type="http://schemas.openxmlformats.org/officeDocument/2006/relationships/slide" Target="slides/slide122.xml"/><Relationship Id="rId137" Type="http://schemas.openxmlformats.org/officeDocument/2006/relationships/slide" Target="slides/slide123.xml"/><Relationship Id="rId138" Type="http://schemas.openxmlformats.org/officeDocument/2006/relationships/slide" Target="slides/slide124.xml"/><Relationship Id="rId139" Type="http://schemas.openxmlformats.org/officeDocument/2006/relationships/slide" Target="slides/slide125.xml"/><Relationship Id="rId140" Type="http://schemas.openxmlformats.org/officeDocument/2006/relationships/slide" Target="slides/slide126.xml"/><Relationship Id="rId141" Type="http://schemas.openxmlformats.org/officeDocument/2006/relationships/slide" Target="slides/slide127.xml"/><Relationship Id="rId142" Type="http://schemas.openxmlformats.org/officeDocument/2006/relationships/slide" Target="slides/slide128.xml"/><Relationship Id="rId143" Type="http://schemas.openxmlformats.org/officeDocument/2006/relationships/slide" Target="slides/slide129.xml"/><Relationship Id="rId144" Type="http://schemas.openxmlformats.org/officeDocument/2006/relationships/slide" Target="slides/slide130.xml"/><Relationship Id="rId148" Type="http://schemas.openxmlformats.org/officeDocument/2006/relationships/slide" Target="slides/slide1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66960" y="658368"/>
            <a:ext cx="1554480" cy="5029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713232"/>
            <a:ext cx="1554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Python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1161288"/>
            <a:ext cx="1554480" cy="41148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1197864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BEGINNER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Python Fundamentals Masterclass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C179</a:t>
            </a:r>
          </a:p>
          <a:p>
            <a:r>
              <a:rPr sz="1600" b="0">
                <a:latin typeface="Arial"/>
              </a:rPr>
              <a:t>Duration: 2 days  ·  15 instructional hours (9:30am – 5:30pm)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4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· MSc · ACTA/DACE-certified adult educator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Python, data analytics, machine learning and AI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Python programming, data science and machine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programming or data analysis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automate or analyse with Python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lms-tms.tertiaryinfotech.com in your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Log in with your registered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your course:  Python Fundamentals Masterclass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Course Materials section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the Slides and Learner Guide (PDF)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1 — Python Basics — Data Types, Operators, Control Structures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Welcome &amp; introductions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1: Get Started on Python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2: Data Types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(30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3: Operators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4: Control Structures, Loop &amp; Comprehension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Day 2 — Functions, Modules &amp; Packages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5: Function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(30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Topic 6: Modules &amp; Packages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Course feedback, wrap-up and Q&amp;A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Daily timing: 9:30am – 5:30pm · 30-min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6 Topics · 21 Hands-On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1 · Get Started on Python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Overview · install · IDE · first script · comments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2 · Data Types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Number · String · List · Tuple · Dictionary ·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3 · Operators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Arithmetic · compound · comparison · membership · logical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4 · Control Structures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Conditional · loops · multiple sequences · comprehension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5 · Function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Syntax · returns · arguments · lambda, map, filter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Topic 6 · Modules &amp; Packages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Standard library · pip · pandas, matplotlib, yfinance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 Started on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Python · Install Python · Python IDE · First Script ·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Get Started on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Powerful &amp; multi-purpose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is used in data science, AI, finance, web and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Simple, readable syntax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Easy to learn — the ideal first programming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Interpreted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Code runs line by line — no compile step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Object-oriented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Everything in Python is an object.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Python?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Powerful &amp; multi-purpose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Used in data science, AI, web, finance, engineering and automation.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Simple, easy-to-use syntax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Reads almost like English — perfect for beginners.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Interpreted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your code immediately, line by line — no compiling.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Object-oriented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Everything in Python is an object.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#1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Python?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Ranked #1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 programming language for years running (IEEE Spectrum).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science &amp; machine 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default language of analytics, ML and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 &amp; engineering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Widely used for financial modelling and engineering computation.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Huge ecosystem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Hundreds of thousands of free packages on PyPI.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SHORT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History of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1989 — Guido van Rossum starts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1991 — First public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2000 — Python 2.0 released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2008 — Python 3.0 released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Today — Python 3.x, the industry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and Install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www.python.org/downloads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the installer for Windows / macOS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Tick 'Add Python to PATH', then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in a terminal: python --version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WHERE YOU'LL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Your Python 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Colab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Cloud-based, zero install — convenient; we use it in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Jupyter Notebook / JupyterLab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Popular with data analysts.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Visual Studio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Popular with developers.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PyCharm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Full-featured professional Python 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CLOUD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Python on Google Colab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colab.research.google.com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in with a Google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File ▸ New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Type code in a 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Press Shift+Enter to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First Python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Python script files are saved with a .py extension.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Run a script from the terminal / CMD prompt.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Colab or Jupyter, just press Shift+Enter.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print("Hello World!")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# save as test.py, then run: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#   python test.py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Hello World!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DOCUMENT YOUR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# starts a single-line comment.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Triple quotes """ … """ wrap multi-line comments.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Comments explain the why — Python ignores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057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# this is a single-line comment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"""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This is 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multi-line comment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"""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print("Comments make code readable")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023360"/>
            <a:ext cx="5943600" cy="20574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096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370832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Comments make code readable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Your First Python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Python coding is a lot of fun and easy to start. Set up your IDE (Google Colab, Visual Studio Code or another IDE), run your first Python script and add comments.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Python environment and a script that prints output with comments.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Colab / VS Code, Python 3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Your First Python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notebook / terminal prints your messages exactly once per print() call, and the commented lines produce no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Get Started on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1: Your First Python Script — A working Python environment and a script that prints output with comments.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Number · String · List · Tuple · Dictionary ·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Six major data 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Number, String, List, Tuple, Dictionary and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Mutable vs immutable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Lists change in place; tuples and strings never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Formatting 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format() and f-strings shape numbers and text for reports.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Build on the basics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Stacks, queues, trees and graphs are built from these six.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Six Major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Number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int, float, complex — 7, 3.14, 2+3j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Text in quotes — 'Hello'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Ordered, mutable — [1, 2, 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Tuple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Ordered, immutable — (1, 2, 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Dictionary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key : value pairs — {'a': 1}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Unordered, distinct — {1, 2, 3}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Numbers &amp; Type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Python supports integers, floating-point and complex numbers.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Type inference: Python works out the type for you.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Check any type with type().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 = 7          # int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b = 3.14       # float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c = 2 + 3j     # complex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print(type(a), type(b), type(c))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&lt;class 'int'&gt; &lt;class 'float'&gt; &lt;class 'complex'&gt;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Multiple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Assign values to multiple variables in one line.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Both sides are evaluated first, then assigned together —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matters later for the Fibonacci lab!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x, y = 1, 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x, y = y, x + y   # simultaneous update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print(x, 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PYTHON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Indentation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Python forces proper indentation — it defines the code block.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lines in the same block must share the same indent.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Inconsistent spacing raises an IndentationError.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if True: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print("inside the block")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print("oops")   # IndentationError!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IndentationError: unexpected indent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OUTPUT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Formatting Numbers — format()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{} is the placeholder for each value.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{:10.2f} → width 10 characters, 2 decimal places.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Great for lining up financial figures.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amt = 1234.5678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print("Amount: {:10.2f}".format(amt))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print("Rate:   {:.1%}".format(0.0525))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Amount:    1234.57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Rate:   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MODERN &amp; POPULAR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Formatting with f-Strings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Add an f before the quote: f"…{variable}…".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Put format specs after a colon: {amt:.2f}.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f-strings are the modern, preferred style.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amt = 1234.5678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print(f"Amount: {amt:.2f}")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name = "budget"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print(f"A {name} is a quantitative plan")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Amount: 1234.57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A budget is a quantitative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Format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a = 4.444, b = 5.555 and c = 6.6666, use the string-literal (f-string) method to format the output as:  5.55 + 6.67 + 4.4 =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f-string that rounds each number to the required decimal places.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Format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is exactly:  5.55 + 6.67 + 4.4 =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READABLE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Multiline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Long lines can be split for readability.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a backslash \ as the line-continuation character.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Inside ( ), [ ] or { } you can break lines freely.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total = 1 + 2 + 3 + \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4 + 5 + 6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print(total)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Single or double quotes — but be consistent.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+ joins (concatenates) strings.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 repeats a string.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 = 'Hello'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b = " World"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 + b)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 * 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Hello World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HelloHello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STRING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c.upper()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CAPITALS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c.lower()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lowercase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c.capitalize()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 letter capital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c.replace(a, b)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Swap a for 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c.strip()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Trim whitespace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c.split(sep)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 into a 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Format 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bs = 'balance sheet' and income = 'income statement', print: "The finance statements typically require Balance sheet and INCOME STATEMENT." using the string-literal (f-string)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f-string combining capitalize() and upper() string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Format String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is exactly: "The finance statements typically require Balance sheet and INCOME STATEMENT."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Strip · Split ·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strip() removes leading/trailing whitespace.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split(sep) breaks a string into a list.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sep.join(list) glues a list back into a string.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email = 'finance@company.com'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user, domain = email.split('@')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print(user, domain)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print('/'.join([user, domain]))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finance company.com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finance/company.com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Split and Join 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email = 'finance@company.com', separate the user name and domain name, then join them back together with a '/'.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Code that splits an email address and re-joins the parts with a different separator.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Split and Join 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shows 'finance', then 'company.com', then 'finance/company.com'.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 &amp; Slicing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ordered collection of mutable items of any type.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Enclosed by [ square brackets ].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Slice with [start:stop:step]; negatives count from the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 = [7, 8, 9, 10, 11]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print(a[0], a[-1])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print(a[0:3])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print(a[0:4:2])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7 11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[7, 8, 9]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[7, 9]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LIST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append(x) / extend(y)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one item / add a whole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insert(i, x)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Insert x at position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remove(x) / pop(i)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Remove by value / by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index(x) / count(x)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 position / count occurrences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sort() / reverse()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Order the list / flip the 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copy()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Duplicate the list safely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List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years = ['2017','2018','2020','2021']: copy it to years2, remove '2021' from years2, insert '2019' at position 2, then reverse the order of years2.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list transformed step by step with the core list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List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years is unchanged ['2017','2018','2020','2021'] and years2 prints ['2020','2019','2018','2017'].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Tuple vs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Tuple ( parentheses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List [ brackets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Immutable — cannot be changed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 = (1, 2, 3)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Safer for fixed data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Slicing works the same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Mutable — add, remove, sort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 = [1, 2, 3]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Rich methods: append, pop, sort…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 when the data will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KEY :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Dictionary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collection of keys, each mapped to a value.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Enclosed by { curly braces }, key separated by a colon.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Methods: keys(), values(), pop(key), del, len().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px = {'DBS': 35.2, 'UOB': 29.8, 'OCBC': 13.1}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print(px['DBS'])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print(list(px.keys()))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px.pop('UOB')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print(len(px))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35.2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['DBS', 'UOB', 'OCBC']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DISTINCT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&amp; Set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Set basics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Unordered collection of distinct objects in { braces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x.union(y)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 unique items from both 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x.intersection(y)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Items common to both 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x.difference(y)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 x but not in 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y.issubset(x)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True if every item of y is in 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x.issuperset(y)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True if x contains all of 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Set — Count Unique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the sentence 'A budget is a quantitative plan for acquiring and using resources over a specified period.', find the number of unique vocabulary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set-based word counter that removes duplicate words.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Set — Count Unique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duplicate 'a' appears only once in the set, and the unique word count prints 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REMEMBER THE BRACKETS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 of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List — [ Bracket ]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Ordered and mutable.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Tuple — ( Parentheses 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Ordered and immutable.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Dictionary — { key: value }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Keys mapped to values.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— { Braces }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Unordered, distinct items.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2: Format Numbers — An f-string that rounds each number to the required decimal places.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3: Format String — An f-string combining capitalize() and upper() string methods.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4: Split and Join Strings — Code that splits an email address and re-joins the parts with a different separator.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5: List Operations — A list transformed step by step with the core list methods.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6: Set — Count Unique Vocabulary — A set-based word counter that removes duplicate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Arithmetic · Compound · Comparison · Membership · Logical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Arithmetic &amp; compound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 -  *  /  **  %  //  and their compound forms (+=, -=, …).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&lt;  &lt;=  &gt;  &gt;=  ==  != compare values and return True/False.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Membership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and not in test whether an item is inside a sequence.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Logical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and, or, not combine conditions into business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 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Arithmetic &amp; Compound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Compound (x = x + 1 → x +=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+   addition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-   subtraction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   multiplication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/   division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**  exponent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   modulus  ·  //  floor 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+=   add and assign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-=   subtract and assign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*=   multiply and assign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/=   divide and assign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**=  exponent and assign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%=   ·  //=  modulus /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TRUE OR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Comparison &amp; Membership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Membership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&lt;    strictly less than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&lt;=   less than or equal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&gt;    strictly greater than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&gt;=   greater than or equal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==   equal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!=   not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— item is inside a sequence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in — item is absent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'DBS' in ['DBS', 'UOB']  →  True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5 not in [1, 2, 3]  → 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COMBINE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Logical (Boolean)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and — True only when both sides are True.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 — True when at least one side is True.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— flips True to False and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 = 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b = 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 == 1 and b &gt; 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 &gt; 1 or b &gt; 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print(not (b &gt; 3))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True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True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a = 1 and b = 2, predict and then verify: what is (a == 1) and not (b &gt; 3)? Then explore the arithmetic and membership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Verified predictions of Boolean expressions and arithmetic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Boolean expression prints True; 2**10 → 1024, 7%3 → 1, 7//3 → 2, x → 12, and both membership checks print True.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7: Operators — Verified predictions of Boolean expressions and arithmetic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Control Structures, Loop and Comprehension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Conditional · While &amp; For Loops · Multiple Sequences · Comprehension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Control Structures, Loop and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Conditional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if / elif / else route the program down different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Loops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while repeats until a condition fails; for iterates a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Multiple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enumerate() and zip() loop several lists together.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Comprehension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One-line list / set / dict builders: [transform iteration filter].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CONDITIONAL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If – Elif –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if tests a condition; elif tests the next; else catches the rest.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condition line ends with a colon 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block under each branch is indented.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286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stock_price = 299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if stock_price &gt; 300: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print("Sell")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elif stock_price == 300: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print("Hold")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else: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print("Buy")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251960"/>
            <a:ext cx="5943600" cy="1828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599432"/>
            <a:ext cx="5486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ONE-LINE 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Ternary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compact if/else on a single line.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value_if_true  if  condition  else  value_if_false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order = 200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discount = 25 if order &gt; 100 else 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print(discount)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Conditional — Income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Prompt the user for their income and classify it: more than 8000 → 'High income'; 4000 to 8000 → 'Medium high income'; otherwise → 'Average income'.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interactive income classifier using input() and if/elif/else.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Conditional — Income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9000 → High income, 5000 → Medium high income, 3000 → Average income; typing 'abc' re-prompts instead of crashing.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HANDLE BAD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Robust Input — try / except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int(input()) crashes if the user types text like 'abc'.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Wrap risky code in try: … except ValueError: …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a while True loop to re-prompt until valid.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286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while True: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try: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age = int(input('What is your age? '))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break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except ValueError: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print('Invalid input. Enter a number.')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print('Age:', 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251960"/>
            <a:ext cx="5943600" cy="1828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599432"/>
            <a:ext cx="5486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What is your age? abc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Invalid input. Enter a number.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What is your age? 42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Age: 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LOOP UNTIL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While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while loop = a condition + a block of code.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block repeats as long as the condition stays True.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the loop variable inside the block — or loop forever!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n = 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while n &lt;= 5: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print(n, end=' 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n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1 2 3 4 5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MATH IN NATURE, ART &amp;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Fibonacci &amp; the Golden Ratio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sequence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1, 1, 2, 3, 5, 8, 13, 21, 34 … each number is the sum of the previous two.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 nature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Sunflower spirals, shells and petals follow Fibonacci counts.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 art &amp; architecture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golden ratio (1.618…) shapes classic compositions.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 trading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Fibonacci retracement levels are used in technical analysis of security prices.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Fibonacci Sequence &amp; Golden Ratio (While 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 Fibonacci number is the sum of the previous two: 1, 1, 2, 3, 5, 8, 13, 21, 34 … Use a while loop to compute the sequence up to 144 and compute the golden ratio.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while loop producing the Fibonacci sequence and the golden ratio ≈ 1.618.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Fibonacci Sequence &amp; Golden Ratio (While 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sequence prints 1 1 2 3 5 8 13 21 34 55 89 144 and the golden ratio is approximately 1.618.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LOOP OVER A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 Loop &amp; range()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for executes a block once per item in a sequence.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range(start, stop, step) generates a number sequence.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Question: what is list(range(2, 12, 2))?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for i in range(1, 6):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print(i, end=' 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print(list(range(2, 12, 2)))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1 2 3 4 5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[2, 4, 6, 8, 10]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 Loop — Square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Generate a Python list of 10 square numbers [1, 4, 9, 16, 25, 36, 49, 64, 81, 100] using a for loop and range().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list of the first 10 square numbers built inside a for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For Loop — Square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list prints [1, 4, 9, 16, 25, 36, 49, 64, 81, 100] and range(2,12,2) gives [2, 4, 6, 8, 10].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INDEX + VALUE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Enumerate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enumerate() yields (index, value) pairs as you loop.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the index to reach into a second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year = ['2017', '2018', '2019']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revenue = [150000, 200000, 500000]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for i, y in enumerate(year):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print(f"{y}'s revenue is ${revenue[i]}")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2017's revenue is $150000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2018's revenue is $200000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2019's revenue is $500000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LOOP MULTIPLE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Zip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zip() pairs up items from several sequences.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Cleaner than indexing when lists move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year = ['2017', '2018', '2019']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revenue = [150000, 200000, 500000]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for y, r in zip(year, revenue):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print(f"{y}'s revenue is ${r}")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2017's revenue is $150000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2018's revenue is $200000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2019's revenue is $500000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Loop Multiple Sequences with zip()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year, revenue and expense lists, fill in the blank so the loop prints each year's revenue and expense together: data = ____________; for y, r, e in data: 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zip() of three lists looped in parallel to print a mini financial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Loop Multiple Sequences with zip()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Three lines print, one per year, each showing the matching revenue and expense (e.g. 2017's revenue is $150000 and expense is $90000).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CONTROL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Break vs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break — exit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continue — skip this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Stops the whole loop at once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for i in range(10):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    if i == 3: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→ prints 0 1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Jumps to the next iteration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for i in range(5):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    if i == 3: continue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→ prints 0 1 2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ONE-LINE BUILDERS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Comprehension — List, Set, 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Python offers 3 comprehensions: list, set and dict.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Pattern:  [ transform   iteration   filter ]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Same idea with { } for sets and {key: value} for 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0574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squares = [x**2 for x in range(1, 6)]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evens   = {x for x in range(10) if x % 2 == 0}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sqmap   = {x: x**2 for x in range(1, 4)}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print(squares)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print(evens)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print(sqmap)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023360"/>
            <a:ext cx="5943600" cy="20574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096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370832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[1, 4, 9, 16, 25]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{0, 2, 4, 6, 8}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{1: 1, 2: 4, 3: 9}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List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a list comprehension of 10 square numbers that are not divisible by 3 and 5: [1, 4, 16, 49, 64, 121, 169, 196, 256, 289]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one-line comprehension with a transform, an iteration and a filter.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List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list prints [1, 4, 16, 49, 64, 121, 169, 196, 256, 289] with length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Control Structures, Loop and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8: Conditional — Income Classifier — An interactive income classifier using input() and if/elif/else.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9: Fibonacci Sequence &amp; Golden Ratio (While Loop) — A while loop producing the Fibonacci sequence and the golden ratio ≈ 1.618.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10: For Loop — Square Numbers — A list of the first 10 square numbers built inside a for loop.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11: Loop Multiple Sequences with zip() — A zip() of three lists looped in parallel to print a mini financial report.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12: List Comprehension — A one-line comprehension with a transform, an iteration and a filter.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Functions, Modules &amp;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on Day 1 Topics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Recap quiz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the Recap Quiz from the LMS and try the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1–2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setup, first script, six data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3–4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Operators, if/elif/else, loops and comprehension.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 review the answers together before starting Day 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Function Syntax · Return Values · Default &amp; Variable Arguments · Lambda, Map,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Reusable blocks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 packages logic once; call it everywhere.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Return values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Functions can return one value — or several at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Flexible arguments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Default, named and variable (*args) arguments.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Lambda, map, filter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Small anonymous functions that transform and filter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REUSABLE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 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Functions are reusable blocks of code that perform specific tasks.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 name(parameters):  then an indented body.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return sends the result back to the caller.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def add(x, y):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z = x + 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return z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print(add(3, 5))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Function — Future Value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The FV calculation lets investors predict the profit generated by an investment. Create a function to compute the future value FV = PV × (1 + r)^n for a present value PV, annual interest rate r and n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reusable fv() function returning the future value of an investment.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Function — Future Value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fv(10000, 0.05, 10) prints approximately 16288.95 — formatted as $16,288.95.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MORE THAN ONE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Return Multiple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Separate the return values with commas.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Unpack them into multiple variables on the left.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def f(x):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return x, 2 * 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a, b = f(5)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print(a,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5 10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Multiple Return Values — Discount &amp;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Prompt the user for the order amount, then create a function that returns BOTH the discount amount and the tax for a grocery purchase: discount is 25% if order &gt; 200 else 0; disc_amt = discount*order/100; tax = 7% of the discounted amount.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function returning (discount amount, tax) unpacked into two variables.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Multiple Return Values — Discount &amp; 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Order 300 → Discount $75.00 and Tax $15.75; order 100 → Discount $0.00 and Tax $7.00.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FLEXIBLE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 &amp; Named Arguments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arguments supply a value when the caller omits one.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Named arguments can be passed in any order.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Question: def f(a=3, b=5): return a*b — what is f(a=4)?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286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def f(a=3, b=5):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return a * b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print(f())        # both defaults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print(f(b=8))     # named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print(f(b=6, a=3))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print(f(a=4))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251960"/>
            <a:ext cx="5943600" cy="18288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599432"/>
            <a:ext cx="5486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15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24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18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ANY NUMBER OF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 Arguments — *args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*args collects any number of positional arguments into a tuple.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Loop over args inside the function.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514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def total(*args):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s = 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for x in args: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s += 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return 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print(total(1, 2, 3))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print(total(5, 4, 7, 9))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480560"/>
            <a:ext cx="5943600" cy="1600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553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828032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6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Variable Arguments — Minimum 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a variable number of elements, create a function to determine the minimum value. E.g. for 5, 4, 7 the function returns 4. Do it with a loop — no min()!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my_min(*args) function that scans any number of values for the smallest.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Variable Arguments — Minimum Finder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my_min(5, 4, 7) prints 4 and my_min(9, 2, 8, 1, 6) prints 1 — matching min().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SMALL &amp; ANONYMOUS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Lambda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lambda creates a small function without a name.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Temporary — used right where it is created.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Often passed into other functions like map() and filter().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f = lambda x, y: 10 * x + 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print(f(4, 2))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sq = lambda x: x ** 2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print(sq(6))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42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Lambda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Given f = lambda x, y: 10*x + y and def g(f, x, y=0): return f(x, y) — what is g(f, 4)? Predict first, then verify.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verified trace of a lambda passed into another function with a default argument.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Lambda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g(f, 4) prints 40 and cube(4) prints 64.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TRANSFORM EVERY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map(function, sequence) applies the function to every element.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 with lambda and with several sequences at once.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Wrap in list() to see the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x = [1, 2, 3, 4]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print(list(map(lambda v: v ** 2, x)))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y = [10, 20, 30, 40]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print(list(map(lambda a, b: a + b, x, y)))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[1, 4, 9, 16]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[11, 22, 33, 44]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map() to compute the answers for f = lambda x, y: 10*x + y with x = [0, 1, 2, 3] and y = [2, 4, 6, 8].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map() over two lists producing [2, 14, 26, 38].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result prints [2, 14, 26, 38].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KEEP WHAT PASSES THE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filter(function, list) keeps items where the function is True.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elegant way to select the elements you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371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x = [0, 1, -4, 2, -6, 3]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pos = list(filter(lambda v: v &gt;= 0, x))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print(pos)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337560"/>
            <a:ext cx="5943600" cy="2743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410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85032"/>
            <a:ext cx="5486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[0, 1, 2, 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filter() to remove all the negative values in x = [0, 1, -4, 2, -6, 3].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filter() with a lambda that keeps only non-negative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Python 3 (Colab / IDE)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approaches print [0, 1, 2, 3] — the negatives are gone.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13: Function — Future Value Calculator — A reusable fv() function returning the future value of an investment.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14: Multiple Return Values — Discount &amp; Tax — A function returning (discount amount, tax) unpacked into two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15: Variable Arguments — Minimum Finder — A my_min(*args) function that scans any number of values for the smallest.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16: Lambda Function — A verified trace of a lambda passed into another function with a default argument.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17: Map — A map() over two lists producing [2, 14, 26, 38].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18: Filter — A filter() with a lambda that keeps only non-negative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Modules &amp;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Import Modules · Standard Library · Third-Party Packages · pip · Data &amp;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Modules &amp;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 library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math, time, random, datetime — batteries included.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 module, import module as alias, from module import name.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Third-party packages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pip installs from PyPI: numpy, pandas, matplotlib, yfinance.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Real finance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Load CSV / Yahoo Finance data and visualize stock prices.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BATTERIES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Standard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pi, e, sin, cos, log, sqrt, ceil, floor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time.sleep(secs) and time functions.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random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random.choice([1,2,3,4,5,6]) — roll a die.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Explore more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index: docs.python.org/3/library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THREE WAYS TO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import module — call with the module prefix.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import module as alias — shorter prefix.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from module import * — no prefix (use sparingly).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514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math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print(math.sin(0.5))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math as 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print(m.sqrt(16))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from math import pi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480560"/>
            <a:ext cx="5943600" cy="16002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553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828032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0.479425538604203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4.0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3.141592653589793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STANDARD MODULES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math · time · random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math for maths functions, constants and rounding.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time.sleep() pauses your script.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random picks random values — simulations and games.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math, random, time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print(math.pi, math.ceil(10.3))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die = random.choice([1, 2, 3, 4, 5, 6])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print('You rolled', die)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time.sleep(1)   # pause 1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3.141592653589793 11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You rolled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PYTHON SUPERPOWER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Third-Party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PyPI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Find every third-party package at pypi.org.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pip install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pip install numpy pandas matplotlib yfinance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Anaconda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150+ pre-built scientific packages in one install — anaconda.com.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 Colab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data packages are already installed for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Install Third-Party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Install the course packages on your terminal / CMD prompt (or verify them in Colab): numpy, matplotlib, pandas and yfinance — then import them to confirm.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working data-analysis toolkit: numpy, pandas, matplotlib and yfinance.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pip, PyPI, Google Colab / terminal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Install Third-Party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four packages import without ModuleNotFoundError and print a version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Stock Data from a CSV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pandas reads tabular data with one line.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head() previews the first rows.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a column with df[['Close']].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pandas as pd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stock = pd.read_csv('singtel.csv')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print(stock.head())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stock_close = stock[['Close']]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566160"/>
            <a:ext cx="5943600" cy="25146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6393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913632"/>
            <a:ext cx="5486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        Date   Open   High    Low  Close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0 2024-01-02  2.46   2.48   2.44   2.47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Visualize Stock Price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matplotlib.pyplot draws the chart.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plot() the closing price, add title and axis labels.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show() displays the figure.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25146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matplotlib.pyplot as plt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plt.figure(figsize=(14, 5))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plt.plot(stock_close, 'b')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plt.plot(stock_close, 'ro')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plt.title('Singtel Close Price')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plt.xlabel('Trading Days')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plt.ylabel('Close Price')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plt.show()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Import &amp; Visualize Stock Data from 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Import historical stock data from a CSV file with pandas, select the closing price and visualize the price history with matplotlib.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line chart of the Singtel closing-price history from a CSV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pandas, matplotlib, CSV (labs/data/singtel.csv)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Import &amp; Visualize Stock Data from 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head() shows the CSV columns (Date, Open, High, Low, Close) and a blue line chart with red markers appears, titled 'Singtel Close Price Representation'.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06998"/>
                </a:solidFill>
                <a:latin typeface="Arial"/>
              </a:rPr>
              <a:t>YFINANCE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Import Data from Yahoo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480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29768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yfinance downloads live market data.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 ticker and a date range.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Plot the Close column just like the CSV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783080"/>
            <a:ext cx="5943600" cy="1828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783080"/>
            <a:ext cx="5943600" cy="34747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50992" y="1874519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874519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1874519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5B5"/>
                </a:solidFill>
                <a:latin typeface="Consolas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86000"/>
            <a:ext cx="5440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import yfinance as yf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stock = yf.download('Z74.SI',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        start='2024-01-01', end='2024-12-31')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stock_close = stock[['Close']]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9CDCFE"/>
                </a:solidFill>
                <a:latin typeface="Consolas"/>
              </a:rPr>
              <a:t>print(stock_close.tail())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794760"/>
            <a:ext cx="5943600" cy="228600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8679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27A3E"/>
                </a:solidFill>
                <a:latin typeface="Arial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142232"/>
            <a:ext cx="548640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              Close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Date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2024-12-27    3.10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27A3E"/>
                </a:solidFill>
                <a:latin typeface="Consolas"/>
              </a:rPr>
              <a:t>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Import Data from Yahoo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the yfinance package to download Singtel (Z74.SI) stock data from Yahoo Finance for a date range, then plot the closing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live Yahoo Finance download and a closing-price chart.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yfinance, pandas, matplotlib</a:t>
            </a:r>
            <a:r>
              <a:rPr sz="1300" b="1">
                <a:solidFill>
                  <a:srgbClr val="5B6372"/>
                </a:solidFill>
                <a:latin typeface="Arial"/>
              </a:rPr>
              <a:t>      Step-by-step guide: </a:t>
            </a:r>
            <a:r>
              <a:rPr sz="1300" b="1">
                <a:solidFill>
                  <a:srgbClr val="10B981"/>
                </a:solidFill>
                <a:latin typeface="Arial"/>
              </a:rPr>
              <a:t>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Activity: Import Data from Yahoo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tail() shows recent trading rows and the chart plots a year of closing prices; swapping the ticker redraws the chart for the new stock.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Follow the detailed step-by-step walkthrough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PUT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Scenario-based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the Practice Section on the LMS — a real business scenario.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Code it yourself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data types, loops, functions and packages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Discuss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approaches with the class.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trainer is here to help — no question is too small.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Modules &amp;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19: Install Third-Party Packages — A working data-analysis toolkit: numpy, pandas, matplotlib and yfinance.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20: Import &amp; Visualize Stock Data from CSV — A line chart of the Singtel closing-price history from a CSV file.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Activity 21: Import Data from Yahoo Finance — A live Yahoo Finance download and a closing-price chart.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How would you use Python in your workplace?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Share one task you will automate or analyse with Python — reports, data cleaning, dashboards, market data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Python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up Python, ran scripts, mastered the six data types.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Operators &amp; control flow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business rules with operators, conditionals, loops and comprehensions.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Functions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Packaged logic into reusable functions — including lambda, map and filter.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Modules &amp; packages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Imported standard modules and installed pandas, matplotlib and yfinance.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Real finance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Loaded CSV and Yahoo Finance data and visualized stock prices.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21 hands-on 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topic practised with step-by-step labs in the Learner Guide.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Summary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Six topics: getting started, data types, operators, control structures, functions, modules &amp; packages.</a:t>
            </a:r>
          </a:p>
          <a:p>
            <a:r>
              <a:rPr sz="2000" b="0">
                <a:latin typeface="Arial"/>
              </a:rPr>
              <a:t>•  The Learner Guide carries the detailed step-by-step of all 21 activities — keep practising with it.</a:t>
            </a:r>
          </a:p>
          <a:p>
            <a:r>
              <a:rPr sz="2000" b="0">
                <a:latin typeface="Arial"/>
              </a:rPr>
              <a:t>•  Any remaining questions before we wrap up?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Python Data Analysis Masterclass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Hands-on course · Tertiary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Vibe Coding with Python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Hands-on course · Tertiary Courses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SQL Masterclass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Hands-on course · Tertiary Courses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Vibe Coding for Machine Learning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Hands-on course · Tertiary Courses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 Vibe Coding for Deep Learning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Hands-on course · Tertiary Courses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FEEDBACK &amp;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&amp;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Share your feedback in the course survey on the LMS — it helps us improve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certificate of completion is issued via the LMS after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code, test and improve Python programs for real business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Python Fundamentals Masterclass  ·  C179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